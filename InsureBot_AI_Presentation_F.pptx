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2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469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00E5A0">
              <a:alpha val="8000"/>
            </a:srgbClr>
          </a:solidFill>
          <a:ln w="12700">
            <a:solidFill>
              <a:srgbClr val="00E5A0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4D9FFF">
              <a:alpha val="7000"/>
            </a:srgbClr>
          </a:solidFill>
          <a:ln w="12700">
            <a:solidFill>
              <a:srgbClr val="4D9FFF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" y="475488"/>
            <a:ext cx="164592" cy="164592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8404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kern="0" spc="1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</a:t>
            </a:r>
            <a:r>
              <a:rPr lang="en-US" sz="1400" b="1" kern="0" spc="100" dirty="0" err="1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AIBot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8912" y="10058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50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Cognitive Insurance</a:t>
            </a:r>
            <a:endParaRPr lang="en-US" sz="5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50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Advisory System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438912" y="30632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platform that analyzes 1000+ insurance policies across 25+ providers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delivers personalized recommendations in under 2 minutes.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" y="4023360"/>
            <a:ext cx="1645920" cy="292608"/>
          </a:xfrm>
          <a:prstGeom prst="roundRect">
            <a:avLst>
              <a:gd name="adj" fmla="val 31250"/>
            </a:avLst>
          </a:prstGeom>
          <a:solidFill>
            <a:srgbClr val="00E5A0">
              <a:alpha val="15000"/>
            </a:srgbClr>
          </a:solidFill>
          <a:ln w="12700">
            <a:solidFill>
              <a:srgbClr val="00E5A0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402336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Nemotron Ultra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12848" y="4023360"/>
            <a:ext cx="1645920" cy="292608"/>
          </a:xfrm>
          <a:prstGeom prst="roundRect">
            <a:avLst>
              <a:gd name="adj" fmla="val 31250"/>
            </a:avLst>
          </a:prstGeom>
          <a:solidFill>
            <a:srgbClr val="4D9FFF">
              <a:alpha val="15000"/>
            </a:srgbClr>
          </a:solidFill>
          <a:ln w="12700">
            <a:solidFill>
              <a:srgbClr val="4D9F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12848" y="402336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D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NIM API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986784" y="4023360"/>
            <a:ext cx="1645920" cy="292608"/>
          </a:xfrm>
          <a:prstGeom prst="roundRect">
            <a:avLst>
              <a:gd name="adj" fmla="val 31250"/>
            </a:avLst>
          </a:prstGeom>
          <a:solidFill>
            <a:srgbClr val="F5A623">
              <a:alpha val="15000"/>
            </a:srgbClr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86784" y="402336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Free to Use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82803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 smtClean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</a:t>
            </a:r>
            <a:r>
              <a:rPr lang="en-US" sz="800" dirty="0" err="1" smtClean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AIBot</a:t>
            </a:r>
            <a:r>
              <a:rPr lang="en-US" sz="800" dirty="0" smtClean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00" dirty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Insurance Advisory System  ·  01 / 20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96112" y="1508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150876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D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193792" y="1508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856232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96112" y="18562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Technology Stack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1856232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D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93792" y="18562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203704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96112" y="220370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Categories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203704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D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93792" y="220370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551176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96112" y="25511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2551176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D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93792" y="25511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NIM Integration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2898648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96112" y="28986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2898648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D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93792" y="28986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&amp; Data Collection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24612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96112" y="3246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Engine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0" y="324612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D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93792" y="3246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Recommendation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3593592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96112" y="35935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Q&amp;A Chat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54880" y="3593592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D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93792" y="35935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Statistics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3941064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96112" y="394106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&amp; Benchmarks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54880" y="3941064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D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93792" y="394106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Coverage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4288536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96112" y="428853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Server Setup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754880" y="4288536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D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93792" y="428853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4636008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96112" y="46360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754880" y="4636008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D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93792" y="46360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526280" y="1463040"/>
            <a:ext cx="0" cy="3246120"/>
          </a:xfrm>
          <a:prstGeom prst="line">
            <a:avLst/>
          </a:prstGeom>
          <a:noFill/>
          <a:ln w="6350">
            <a:solidFill>
              <a:srgbClr val="5A6A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82803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 smtClean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</a:t>
            </a:r>
            <a:r>
              <a:rPr lang="en-US" sz="800" dirty="0" err="1" smtClean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AIBot</a:t>
            </a:r>
            <a:r>
              <a:rPr lang="en-US" sz="800" dirty="0" smtClean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00" dirty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Insurance Advisory System  ·  02 / 20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Insurance Is Broken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the Average Indian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77640" cy="1188720"/>
          </a:xfrm>
          <a:prstGeom prst="rect">
            <a:avLst/>
          </a:prstGeom>
          <a:solidFill>
            <a:srgbClr val="16203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216712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🔍</a:t>
            </a:r>
          </a:p>
        </p:txBody>
      </p:sp>
      <p:sp>
        <p:nvSpPr>
          <p:cNvPr id="6" name="Text 4"/>
          <p:cNvSpPr/>
          <p:nvPr/>
        </p:nvSpPr>
        <p:spPr>
          <a:xfrm>
            <a:off x="1261872" y="21488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Overload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61872" y="2478024"/>
            <a:ext cx="2944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insurers, 1000+ policies — impossible to compare manually without spending days researching.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46320" y="1965960"/>
            <a:ext cx="3977640" cy="1188720"/>
          </a:xfrm>
          <a:prstGeom prst="rect">
            <a:avLst/>
          </a:prstGeom>
          <a:solidFill>
            <a:srgbClr val="16203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47488" y="216712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💸</a:t>
            </a:r>
          </a:p>
        </p:txBody>
      </p:sp>
      <p:sp>
        <p:nvSpPr>
          <p:cNvPr id="10" name="Text 8"/>
          <p:cNvSpPr/>
          <p:nvPr/>
        </p:nvSpPr>
        <p:spPr>
          <a:xfrm>
            <a:off x="5650992" y="21488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Mis-selling &amp; Bias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50992" y="2478024"/>
            <a:ext cx="2944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push high-commission products. Online aggregators are paid by insurers, skewing recommendations.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337560"/>
            <a:ext cx="3977640" cy="1188720"/>
          </a:xfrm>
          <a:prstGeom prst="rect">
            <a:avLst/>
          </a:prstGeom>
          <a:solidFill>
            <a:srgbClr val="16203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" y="353872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dirty="0">
                <a:solidFill>
                  <a:schemeClr val="bg1"/>
                </a:solidFill>
              </a:rPr>
              <a:t>🕐</a:t>
            </a:r>
          </a:p>
        </p:txBody>
      </p:sp>
      <p:sp>
        <p:nvSpPr>
          <p:cNvPr id="14" name="Text 12"/>
          <p:cNvSpPr/>
          <p:nvPr/>
        </p:nvSpPr>
        <p:spPr>
          <a:xfrm>
            <a:off x="1261872" y="35204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Time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61872" y="3849624"/>
            <a:ext cx="2944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Indian spends 6–8 hours researching insurance, often still making sub-optimal choices.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46320" y="3337560"/>
            <a:ext cx="3977640" cy="1188720"/>
          </a:xfrm>
          <a:prstGeom prst="rect">
            <a:avLst/>
          </a:prstGeom>
          <a:solidFill>
            <a:srgbClr val="16203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47488" y="353872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❓</a:t>
            </a:r>
          </a:p>
        </p:txBody>
      </p:sp>
      <p:sp>
        <p:nvSpPr>
          <p:cNvPr id="18" name="Text 16"/>
          <p:cNvSpPr/>
          <p:nvPr/>
        </p:nvSpPr>
        <p:spPr>
          <a:xfrm>
            <a:off x="5650992" y="35204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50992" y="3849624"/>
            <a:ext cx="2944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Jargon-heavy policies with hidden clauses, waiting periods, and sub-limits confuse buyers.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65760" y="482803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 smtClean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</a:t>
            </a:r>
            <a:r>
              <a:rPr lang="en-US" sz="800" dirty="0" err="1" smtClean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AIBot</a:t>
            </a:r>
            <a:r>
              <a:rPr lang="en-US" sz="800" dirty="0" smtClean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00" dirty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Insurance Advisory System  ·  03 / 20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InsureBot AI?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54864" cy="41148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481328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5000"/>
              </a:lnSpc>
            </a:pPr>
            <a:r>
              <a:rPr lang="en-US" sz="13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</a:t>
            </a:r>
            <a:r>
              <a:rPr lang="en-US" sz="1350" dirty="0" err="1" smtClean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AIBot</a:t>
            </a:r>
            <a:r>
              <a:rPr lang="en-US" sz="1350" dirty="0" smtClean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</a:t>
            </a:r>
            <a:r>
              <a:rPr lang="en-US" sz="13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Cognitive Insurance Advisory System that uses a state-of-the-art large language model (NVIDIA Nemotron Ultra) to collect user details, analyze their profile, and recommend the best-fit insurance policies — all in under 2 minutes, completely free.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🏗️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6243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Single-File Web App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383280" y="2624328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pure HTML, CSS &amp; JS — zero dependencies, runs in any browser.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172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319125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NIM Backend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383280" y="3191256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Nemotron Ultra via NVIDIA's NIM inference API for real-time AI analysis.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398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375818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Proxy Server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383280" y="3758184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proxy (proxy_server.py) relays API calls to bypass browser CORS restrictions.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306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🇮🇳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65760" y="482803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 smtClean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</a:t>
            </a:r>
            <a:r>
              <a:rPr lang="en-US" sz="800" dirty="0" err="1" smtClean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AIBot</a:t>
            </a:r>
            <a:r>
              <a:rPr lang="en-US" sz="800" dirty="0" smtClean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00" dirty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Insurance Advisory System  ·  04 / 20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Powered by Cutting-Edge AI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2103120" cy="384048"/>
          </a:xfrm>
          <a:prstGeom prst="rect">
            <a:avLst/>
          </a:prstGeom>
          <a:solidFill>
            <a:srgbClr val="00E5A0">
              <a:alpha val="15000"/>
            </a:srgbClr>
          </a:solidFill>
          <a:ln w="12700">
            <a:solidFill>
              <a:srgbClr val="00E5A0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0020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Model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0" y="164592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nvidia/llama-3.1-nemotron-ultra-253b-v1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130552"/>
            <a:ext cx="2103120" cy="384048"/>
          </a:xfrm>
          <a:prstGeom prst="rect">
            <a:avLst/>
          </a:prstGeom>
          <a:solidFill>
            <a:srgbClr val="4D9FFF">
              <a:alpha val="15000"/>
            </a:srgbClr>
          </a:solidFill>
          <a:ln w="12700">
            <a:solidFill>
              <a:srgbClr val="4D9FFF">
                <a:alpha val="3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3055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D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Provider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0" y="2176272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NIM — integrate.api.nvidia.com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660904"/>
            <a:ext cx="2103120" cy="384048"/>
          </a:xfrm>
          <a:prstGeom prst="rect">
            <a:avLst/>
          </a:prstGeom>
          <a:solidFill>
            <a:srgbClr val="F5A623">
              <a:alpha val="15000"/>
            </a:srgbClr>
          </a:solidFill>
          <a:ln w="12700">
            <a:solidFill>
              <a:srgbClr val="F5A623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6090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0" y="2706624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 err="1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Nemotron</a:t>
            </a:r>
            <a:r>
              <a:rPr lang="en-US" sz="12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API · /v1/chat/completions endpoint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191256"/>
            <a:ext cx="2103120" cy="384048"/>
          </a:xfrm>
          <a:prstGeom prst="rect">
            <a:avLst/>
          </a:prstGeom>
          <a:solidFill>
            <a:srgbClr val="A78BFA">
              <a:alpha val="15000"/>
            </a:srgbClr>
          </a:solidFill>
          <a:ln w="12700">
            <a:solidFill>
              <a:srgbClr val="A78BFA">
                <a:alpha val="3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191256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0" y="3236976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· CSS3 · Vanilla JavaScript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721608"/>
            <a:ext cx="2103120" cy="384048"/>
          </a:xfrm>
          <a:prstGeom prst="rect">
            <a:avLst/>
          </a:prstGeom>
          <a:solidFill>
            <a:srgbClr val="F472B6">
              <a:alpha val="15000"/>
            </a:srgbClr>
          </a:solidFill>
          <a:ln w="12700">
            <a:solidFill>
              <a:srgbClr val="F472B6">
                <a:alpha val="3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2160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Server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0" y="3767328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· http.server · requests library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4251960"/>
            <a:ext cx="2103120" cy="384048"/>
          </a:xfrm>
          <a:prstGeom prst="rect">
            <a:avLst/>
          </a:prstGeom>
          <a:solidFill>
            <a:srgbClr val="22D3EE">
              <a:alpha val="15000"/>
            </a:srgbClr>
          </a:solidFill>
          <a:ln w="12700">
            <a:solidFill>
              <a:srgbClr val="22D3EE">
                <a:alpha val="3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25196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Fonts &amp; UI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0" y="429768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 (Syne, DM Sans, DM Mono)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65760" y="482803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 smtClean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</a:t>
            </a:r>
            <a:r>
              <a:rPr lang="en-US" sz="800" dirty="0" err="1" smtClean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AIBot</a:t>
            </a:r>
            <a:r>
              <a:rPr lang="en-US" sz="800" dirty="0" smtClean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00" dirty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Insurance Advisory System  ·  05 / 20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828800"/>
            <a:ext cx="1737360" cy="914400"/>
          </a:xfrm>
          <a:prstGeom prst="rect">
            <a:avLst/>
          </a:prstGeom>
          <a:solidFill>
            <a:srgbClr val="00E5A0">
              <a:alpha val="20000"/>
            </a:srgbClr>
          </a:solidFill>
          <a:ln w="12700">
            <a:solidFill>
              <a:srgbClr val="00E5A0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88366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🖥</a:t>
            </a:r>
            <a:r>
              <a:rPr lang="en-US" sz="1800" dirty="0">
                <a:solidFill>
                  <a:schemeClr val="bg1"/>
                </a:solidFill>
              </a:rPr>
              <a:t>️</a:t>
            </a:r>
          </a:p>
        </p:txBody>
      </p:sp>
      <p:sp>
        <p:nvSpPr>
          <p:cNvPr id="6" name="Text 4"/>
          <p:cNvSpPr/>
          <p:nvPr/>
        </p:nvSpPr>
        <p:spPr>
          <a:xfrm>
            <a:off x="274320" y="22860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68880" y="1828800"/>
            <a:ext cx="1737360" cy="914400"/>
          </a:xfrm>
          <a:prstGeom prst="rect">
            <a:avLst/>
          </a:prstGeom>
          <a:solidFill>
            <a:srgbClr val="4D9FFF">
              <a:alpha val="20000"/>
            </a:srgbClr>
          </a:solidFill>
          <a:ln w="12700">
            <a:solidFill>
              <a:srgbClr val="4D9FFF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88366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🔁</a:t>
            </a:r>
          </a:p>
        </p:txBody>
      </p:sp>
      <p:sp>
        <p:nvSpPr>
          <p:cNvPr id="9" name="Text 7"/>
          <p:cNvSpPr/>
          <p:nvPr/>
        </p:nvSpPr>
        <p:spPr>
          <a:xfrm>
            <a:off x="2468880" y="22860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Server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828800"/>
            <a:ext cx="1737360" cy="914400"/>
          </a:xfrm>
          <a:prstGeom prst="rect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88366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☁️</a:t>
            </a:r>
          </a:p>
        </p:txBody>
      </p:sp>
      <p:sp>
        <p:nvSpPr>
          <p:cNvPr id="12" name="Text 10"/>
          <p:cNvSpPr/>
          <p:nvPr/>
        </p:nvSpPr>
        <p:spPr>
          <a:xfrm>
            <a:off x="4663440" y="22860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NIM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0" y="1828800"/>
            <a:ext cx="1737360" cy="914400"/>
          </a:xfrm>
          <a:prstGeom prst="rect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188366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🤖</a:t>
            </a:r>
          </a:p>
        </p:txBody>
      </p:sp>
      <p:sp>
        <p:nvSpPr>
          <p:cNvPr id="15" name="Text 13"/>
          <p:cNvSpPr/>
          <p:nvPr/>
        </p:nvSpPr>
        <p:spPr>
          <a:xfrm>
            <a:off x="6858000" y="22860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Nemotron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 LLM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011680" y="2286000"/>
            <a:ext cx="457200" cy="0"/>
          </a:xfrm>
          <a:prstGeom prst="line">
            <a:avLst/>
          </a:prstGeom>
          <a:noFill/>
          <a:ln w="19050">
            <a:solidFill>
              <a:srgbClr val="5A6A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67712" y="2153653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206240" y="2286000"/>
            <a:ext cx="457200" cy="0"/>
          </a:xfrm>
          <a:prstGeom prst="line">
            <a:avLst/>
          </a:prstGeom>
          <a:noFill/>
          <a:ln w="19050">
            <a:solidFill>
              <a:srgbClr val="5A6A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62272" y="215798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0" y="2286000"/>
            <a:ext cx="457200" cy="0"/>
          </a:xfrm>
          <a:prstGeom prst="line">
            <a:avLst/>
          </a:prstGeom>
          <a:noFill/>
          <a:ln w="19050">
            <a:solidFill>
              <a:srgbClr val="5A6A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56832" y="2153653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851660" y="2502327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POST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046220" y="2514600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CORS-Safe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268212" y="2514600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</a:t>
            </a:r>
            <a:endParaRPr lang="en-US" sz="800" dirty="0" smtClean="0">
              <a:solidFill>
                <a:srgbClr val="5A6A8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800" dirty="0" smtClean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" y="2944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User fills form in Browser → clicks 'Get Recommendation'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32461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Browser sends POST request to local Python Proxy (localhost:3000/api/nvidia)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54787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Proxy strips CORS headers and forwards to NVIDIA NIM endpoint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384962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NVIDIA NIM routes request to Nemotron Ultra 253B LLM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15137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LLM generates detailed insurance analysis → returned to Browser as JSON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45312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Browser renders formatted recommendation + enables Q&amp;A chat mode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482803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 smtClean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</a:t>
            </a:r>
            <a:r>
              <a:rPr lang="en-US" sz="800" dirty="0" err="1" smtClean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AIBot</a:t>
            </a:r>
            <a:r>
              <a:rPr lang="en-US" sz="800" dirty="0" smtClean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00" dirty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Insurance Advisory System  ·  06 / 20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SCOPE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Insurance Categories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572768"/>
            <a:ext cx="4023360" cy="960120"/>
          </a:xfrm>
          <a:prstGeom prst="rect">
            <a:avLst/>
          </a:prstGeom>
          <a:solidFill>
            <a:srgbClr val="16203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 smtClean="0">
                <a:solidFill>
                  <a:schemeClr val="bg1"/>
                </a:solidFill>
              </a:rPr>
              <a:t>❤</a:t>
            </a:r>
            <a:r>
              <a:rPr lang="en-US" sz="2200" dirty="0" smtClean="0">
                <a:solidFill>
                  <a:srgbClr val="000000"/>
                </a:solidFill>
              </a:rPr>
              <a:t>️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188720" y="1737360"/>
            <a:ext cx="45720" cy="64008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70992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Insurance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204825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Medical, hospitalization, critical illness coverage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688336"/>
            <a:ext cx="4023360" cy="960120"/>
          </a:xfrm>
          <a:prstGeom prst="rect">
            <a:avLst/>
          </a:prstGeom>
          <a:solidFill>
            <a:srgbClr val="16203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30352" y="28529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🌿</a:t>
            </a:r>
          </a:p>
        </p:txBody>
      </p:sp>
      <p:sp>
        <p:nvSpPr>
          <p:cNvPr id="11" name="Shape 9"/>
          <p:cNvSpPr/>
          <p:nvPr/>
        </p:nvSpPr>
        <p:spPr>
          <a:xfrm>
            <a:off x="1188720" y="2852928"/>
            <a:ext cx="45720" cy="64008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25880" y="2825496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Insurance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25880" y="316382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life, ULIP, endowment plans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803904"/>
            <a:ext cx="4023360" cy="960120"/>
          </a:xfrm>
          <a:prstGeom prst="rect">
            <a:avLst/>
          </a:prstGeom>
          <a:solidFill>
            <a:srgbClr val="16203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0352" y="39684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🚗</a:t>
            </a:r>
          </a:p>
        </p:txBody>
      </p:sp>
      <p:sp>
        <p:nvSpPr>
          <p:cNvPr id="16" name="Shape 14"/>
          <p:cNvSpPr/>
          <p:nvPr/>
        </p:nvSpPr>
        <p:spPr>
          <a:xfrm>
            <a:off x="1188720" y="3968496"/>
            <a:ext cx="45720" cy="64008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" y="3941064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Insurance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427939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4-wheeler cover, IDV, NCB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572768"/>
            <a:ext cx="4023360" cy="960120"/>
          </a:xfrm>
          <a:prstGeom prst="rect">
            <a:avLst/>
          </a:prstGeom>
          <a:solidFill>
            <a:srgbClr val="16203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19472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🏍</a:t>
            </a:r>
            <a:r>
              <a:rPr lang="en-US" sz="2200" dirty="0">
                <a:solidFill>
                  <a:schemeClr val="bg1"/>
                </a:solidFill>
              </a:rPr>
              <a:t>️</a:t>
            </a:r>
          </a:p>
        </p:txBody>
      </p:sp>
      <p:sp>
        <p:nvSpPr>
          <p:cNvPr id="21" name="Shape 19"/>
          <p:cNvSpPr/>
          <p:nvPr/>
        </p:nvSpPr>
        <p:spPr>
          <a:xfrm>
            <a:off x="5577840" y="1737360"/>
            <a:ext cx="45720" cy="6400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15000" y="170992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Insurance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15000" y="204825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2-wheeler &amp; scooter coverage, add-ons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688336"/>
            <a:ext cx="4023360" cy="960120"/>
          </a:xfrm>
          <a:prstGeom prst="rect">
            <a:avLst/>
          </a:prstGeom>
          <a:solidFill>
            <a:srgbClr val="16203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19472" y="28529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✈</a:t>
            </a:r>
            <a:r>
              <a:rPr lang="en-US" sz="2200" dirty="0">
                <a:solidFill>
                  <a:srgbClr val="000000"/>
                </a:solidFill>
              </a:rPr>
              <a:t>️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5577840" y="2852928"/>
            <a:ext cx="45720" cy="64008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15000" y="2825496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Insurance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715000" y="316382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&amp; international trip protection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803904"/>
            <a:ext cx="4023360" cy="960120"/>
          </a:xfrm>
          <a:prstGeom prst="rect">
            <a:avLst/>
          </a:prstGeom>
          <a:solidFill>
            <a:srgbClr val="16203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919472" y="39684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🏠</a:t>
            </a:r>
          </a:p>
        </p:txBody>
      </p:sp>
      <p:sp>
        <p:nvSpPr>
          <p:cNvPr id="31" name="Shape 29"/>
          <p:cNvSpPr/>
          <p:nvPr/>
        </p:nvSpPr>
        <p:spPr>
          <a:xfrm>
            <a:off x="5577840" y="3968496"/>
            <a:ext cx="45720" cy="6400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15000" y="3941064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Insurance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715000" y="427939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&amp; contents protection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" y="482803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 smtClean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</a:t>
            </a:r>
            <a:r>
              <a:rPr lang="en-US" sz="800" dirty="0" err="1" smtClean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AIBot</a:t>
            </a:r>
            <a:r>
              <a:rPr lang="en-US" sz="800" dirty="0" smtClean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00" dirty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Insurance Advisory System  ·  07 / 20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Steps to Your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Perfect Coverage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664208"/>
            <a:ext cx="2011680" cy="2926080"/>
          </a:xfrm>
          <a:prstGeom prst="rect">
            <a:avLst/>
          </a:prstGeom>
          <a:solidFill>
            <a:srgbClr val="16203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71907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E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2286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🖱</a:t>
            </a:r>
            <a:r>
              <a:rPr lang="en-US" sz="2600" dirty="0">
                <a:solidFill>
                  <a:schemeClr val="bg1"/>
                </a:solidFill>
              </a:rPr>
              <a:t>️</a:t>
            </a:r>
          </a:p>
        </p:txBody>
      </p:sp>
      <p:sp>
        <p:nvSpPr>
          <p:cNvPr id="7" name="Text 5"/>
          <p:cNvSpPr/>
          <p:nvPr/>
        </p:nvSpPr>
        <p:spPr>
          <a:xfrm>
            <a:off x="493776" y="2834640"/>
            <a:ext cx="17556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Insurance Type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from Health, Life, Car, Bike, Travel, or Home insurance to begin your personalized analysis.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395728" y="28346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578608" y="1664208"/>
            <a:ext cx="2011680" cy="2926080"/>
          </a:xfrm>
          <a:prstGeom prst="rect">
            <a:avLst/>
          </a:prstGeom>
          <a:solidFill>
            <a:srgbClr val="16203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78608" y="171907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E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578608" y="2286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chemeClr val="bg1"/>
                </a:solidFill>
              </a:rPr>
              <a:t>📝</a:t>
            </a:r>
          </a:p>
        </p:txBody>
      </p:sp>
      <p:sp>
        <p:nvSpPr>
          <p:cNvPr id="13" name="Text 11"/>
          <p:cNvSpPr/>
          <p:nvPr/>
        </p:nvSpPr>
        <p:spPr>
          <a:xfrm>
            <a:off x="2706624" y="2834640"/>
            <a:ext cx="17556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Your Details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70048" y="338328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personal details, budget &amp; preferences. Takes less than 2 minutes to complete the form.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08576" y="28346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791456" y="1664208"/>
            <a:ext cx="2011680" cy="2926080"/>
          </a:xfrm>
          <a:prstGeom prst="rect">
            <a:avLst/>
          </a:prstGeom>
          <a:solidFill>
            <a:srgbClr val="16203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91456" y="171907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E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791456" y="2286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chemeClr val="bg1"/>
                </a:solidFill>
              </a:rPr>
              <a:t>🔍</a:t>
            </a:r>
          </a:p>
        </p:txBody>
      </p:sp>
      <p:sp>
        <p:nvSpPr>
          <p:cNvPr id="19" name="Text 17"/>
          <p:cNvSpPr/>
          <p:nvPr/>
        </p:nvSpPr>
        <p:spPr>
          <a:xfrm>
            <a:off x="4919472" y="2834640"/>
            <a:ext cx="17556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Scans 25+ Providers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82896" y="338328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Nemotron Ultra scans HDFC Ergo, ICICI Lombard, Acko, Policybazaar and more for the best options.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821424" y="28346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004304" y="1664208"/>
            <a:ext cx="2011680" cy="2926080"/>
          </a:xfrm>
          <a:prstGeom prst="rect">
            <a:avLst/>
          </a:prstGeom>
          <a:solidFill>
            <a:srgbClr val="16203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004304" y="171907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E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7004304" y="2286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chemeClr val="bg1"/>
                </a:solidFill>
              </a:rPr>
              <a:t>⭐</a:t>
            </a:r>
          </a:p>
        </p:txBody>
      </p:sp>
      <p:sp>
        <p:nvSpPr>
          <p:cNvPr id="25" name="Text 23"/>
          <p:cNvSpPr/>
          <p:nvPr/>
        </p:nvSpPr>
        <p:spPr>
          <a:xfrm>
            <a:off x="7132320" y="2834640"/>
            <a:ext cx="17556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Best Recommendation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095744" y="338328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a ranked comparison table and the best coverage option tailored for your exact profile.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65760" y="482803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 smtClean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</a:t>
            </a:r>
            <a:r>
              <a:rPr lang="en-US" sz="800" dirty="0" err="1" smtClean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AIBot</a:t>
            </a:r>
            <a:r>
              <a:rPr lang="en-US" sz="800" dirty="0" smtClean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00" dirty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Insurance Advisory System  ·  08 / 20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an Unfair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Advantage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84048" y="1600200"/>
            <a:ext cx="2697480" cy="1353312"/>
          </a:xfrm>
          <a:prstGeom prst="rect">
            <a:avLst/>
          </a:prstGeom>
          <a:solidFill>
            <a:srgbClr val="16203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764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🤖</a:t>
            </a:r>
          </a:p>
        </p:txBody>
      </p:sp>
      <p:sp>
        <p:nvSpPr>
          <p:cNvPr id="6" name="Text 4"/>
          <p:cNvSpPr/>
          <p:nvPr/>
        </p:nvSpPr>
        <p:spPr>
          <a:xfrm>
            <a:off x="1069848" y="176479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Nemotron Ultra LLM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23774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253B parameter model for nuanced, accurate insurance analysis and personalized advice.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10128" y="1600200"/>
            <a:ext cx="2697480" cy="1353312"/>
          </a:xfrm>
          <a:prstGeom prst="rect">
            <a:avLst/>
          </a:prstGeom>
          <a:solidFill>
            <a:srgbClr val="16203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93008" y="1764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📊</a:t>
            </a:r>
          </a:p>
        </p:txBody>
      </p:sp>
      <p:sp>
        <p:nvSpPr>
          <p:cNvPr id="10" name="Text 8"/>
          <p:cNvSpPr/>
          <p:nvPr/>
        </p:nvSpPr>
        <p:spPr>
          <a:xfrm>
            <a:off x="4014216" y="176479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Comparison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493008" y="2148840"/>
            <a:ext cx="23774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5–6 top policies compared side-by-side on premium, coverage, CSR, and benefits.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72784" y="1600200"/>
            <a:ext cx="2697480" cy="1353312"/>
          </a:xfrm>
          <a:prstGeom prst="rect">
            <a:avLst/>
          </a:prstGeom>
          <a:solidFill>
            <a:srgbClr val="16203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37376" y="1764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🔒</a:t>
            </a:r>
          </a:p>
        </p:txBody>
      </p:sp>
      <p:sp>
        <p:nvSpPr>
          <p:cNvPr id="14" name="Text 12"/>
          <p:cNvSpPr/>
          <p:nvPr/>
        </p:nvSpPr>
        <p:spPr>
          <a:xfrm>
            <a:off x="6958584" y="176479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Unbiased &amp; Data-Driven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37376" y="2148840"/>
            <a:ext cx="23774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insurer sponsorships. Purely driven by user profile and objective data.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84048" y="3136392"/>
            <a:ext cx="2697480" cy="1353312"/>
          </a:xfrm>
          <a:prstGeom prst="rect">
            <a:avLst/>
          </a:prstGeom>
          <a:solidFill>
            <a:srgbClr val="16203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33009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💬</a:t>
            </a:r>
          </a:p>
        </p:txBody>
      </p:sp>
      <p:sp>
        <p:nvSpPr>
          <p:cNvPr id="18" name="Text 16"/>
          <p:cNvSpPr/>
          <p:nvPr/>
        </p:nvSpPr>
        <p:spPr>
          <a:xfrm>
            <a:off x="1069848" y="330098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Q&amp;A Chat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3685032"/>
            <a:ext cx="23774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follow-up questions about any coverage — claims, waiting periods, add-ons.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28416" y="3136392"/>
            <a:ext cx="2697480" cy="1353312"/>
          </a:xfrm>
          <a:prstGeom prst="rect">
            <a:avLst/>
          </a:prstGeom>
          <a:solidFill>
            <a:srgbClr val="16203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93008" y="33009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⚡</a:t>
            </a:r>
          </a:p>
        </p:txBody>
      </p:sp>
      <p:sp>
        <p:nvSpPr>
          <p:cNvPr id="22" name="Text 20"/>
          <p:cNvSpPr/>
          <p:nvPr/>
        </p:nvSpPr>
        <p:spPr>
          <a:xfrm>
            <a:off x="4014216" y="330098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2-Minute Results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493008" y="3685032"/>
            <a:ext cx="23774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API inference delivers full recommendations in under 120 seconds.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65760" y="482803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 smtClean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</a:t>
            </a:r>
            <a:r>
              <a:rPr lang="en-US" sz="800" dirty="0" err="1" smtClean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AIBot</a:t>
            </a:r>
            <a:r>
              <a:rPr lang="en-US" sz="800" dirty="0" smtClean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00" dirty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Insurance Advisory System  ·  09 / 20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NVIDIA NIM API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4864" cy="41148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508760"/>
            <a:ext cx="8028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InsureBot AI uses NVIDIA's NIM (NVIDIA Inference Microservices) platform to access the Nemotron Ultra 253B language model — one of the most powerful open-weight models available for reasoning and analysis tasks.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8229600" cy="2240280"/>
          </a:xfrm>
          <a:prstGeom prst="rect">
            <a:avLst/>
          </a:prstGeom>
          <a:solidFill>
            <a:srgbClr val="16203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57860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77440" y="2578608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https://integrate.api.nvidia.com/v1/chat/completions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9443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D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77440" y="2944368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nvidia/llama-3.1-nemotron-ultra-253b-v1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3101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Tokens: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77440" y="3310128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2048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6758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77440" y="3675888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  (balanced accuracy + creativity)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404164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77440" y="4041648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Token via Authorization header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82803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 smtClean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</a:t>
            </a:r>
            <a:r>
              <a:rPr lang="en-US" sz="800" dirty="0" err="1" smtClean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AIBot</a:t>
            </a:r>
            <a:r>
              <a:rPr lang="en-US" sz="800" dirty="0" smtClean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00" dirty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Insurance Advisory System  ·  10 / 20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Modern, Dark-Themed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Interface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8105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Aesthetic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143000" y="2130552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Navy-black background with teal accent (#00E5A0), blue highlights, premium feel.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834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532120" y="18105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Responsive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532120" y="2130552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mobile and desktop with CSS Grid, flexbox, and media queries.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907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✨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288950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Elements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43000" y="3209544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fade-up animations, pulsing status dots, scroll-triggered reveals.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83480" y="2907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🧭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532120" y="288950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 Navigation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532120" y="3209544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SPA-style routing — Home, Form, Analyzing, and Result pages with smooth transitions.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39867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🔤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" y="396849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Typography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43000" y="4288536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Syne display font + DM Sans body + DM Mono for code elements via Google Fonts.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83480" y="39867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🌟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532120" y="396849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Glassmorphism Cards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532120" y="4288536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Frosted glass nav bar, glowing accent elements, layered background radial gradients.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82803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 smtClean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</a:t>
            </a:r>
            <a:r>
              <a:rPr lang="en-US" sz="800" dirty="0" err="1" smtClean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AIBot</a:t>
            </a:r>
            <a:r>
              <a:rPr lang="en-US" sz="800" dirty="0" smtClean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00" dirty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Insurance Advisory System  ·  11 / 20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Form Design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Each Insurance Type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27632"/>
            <a:ext cx="73152" cy="91440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7190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Insurance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58368" y="20299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city, income, family size, pre-existing conditions, hospital preference, budget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46320" y="1627632"/>
            <a:ext cx="73152" cy="91440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47488" y="17190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Insurance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47488" y="20299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income, dependents, coverage amount, investment preference, policy duration, riders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706624"/>
            <a:ext cx="73152" cy="91440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79806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Insurance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8368" y="31089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Make/model, year, fuel type, usage, city, previous insurer, NCB, add-ons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2706624"/>
            <a:ext cx="73152" cy="91440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47488" y="279806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Insurance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47488" y="31089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Make/model, year, engine CC, usage, city, NCB claims, budget, add-ons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73152" cy="91440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87705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Insurance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8368" y="418795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Destination, trip duration, number of travellers, trip type, medical conditions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0" y="3785616"/>
            <a:ext cx="73152" cy="91440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47488" y="387705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Insurance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47488" y="418795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type, area, ownership, city, existing damage, structure vs contents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482803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 smtClean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</a:t>
            </a:r>
            <a:r>
              <a:rPr lang="en-US" sz="800" dirty="0" err="1" smtClean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AIBot</a:t>
            </a:r>
            <a:r>
              <a:rPr lang="en-US" sz="800" dirty="0" smtClean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00" dirty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Insurance Advisory System  ·  12 / 20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AI Analyzes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Profile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prompt instructs Nemotron Ultra to evaluate insurance policies across 12 parameters: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2011680" cy="420624"/>
          </a:xfrm>
          <a:prstGeom prst="rect">
            <a:avLst/>
          </a:prstGeom>
          <a:solidFill>
            <a:srgbClr val="162032"/>
          </a:solidFill>
          <a:ln w="12700">
            <a:solidFill>
              <a:srgbClr val="00E5A0">
                <a:alpha val="2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057400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Premium Cost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33472" y="2057400"/>
            <a:ext cx="2011680" cy="420624"/>
          </a:xfrm>
          <a:prstGeom prst="rect">
            <a:avLst/>
          </a:prstGeom>
          <a:solidFill>
            <a:srgbClr val="162032"/>
          </a:solidFill>
          <a:ln w="12700">
            <a:solidFill>
              <a:srgbClr val="00E5A0">
                <a:alpha val="2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33472" y="2057400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Coverage Amount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9744" y="2057400"/>
            <a:ext cx="2011680" cy="420624"/>
          </a:xfrm>
          <a:prstGeom prst="rect">
            <a:avLst/>
          </a:prstGeom>
          <a:solidFill>
            <a:srgbClr val="162032"/>
          </a:solidFill>
          <a:ln w="12700">
            <a:solidFill>
              <a:srgbClr val="00E5A0">
                <a:alpha val="2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9744" y="2057400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Claim Settlement Ratio (CSR)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986016" y="2057400"/>
            <a:ext cx="2011680" cy="420624"/>
          </a:xfrm>
          <a:prstGeom prst="rect">
            <a:avLst/>
          </a:prstGeom>
          <a:solidFill>
            <a:srgbClr val="162032"/>
          </a:solidFill>
          <a:ln w="12700">
            <a:solidFill>
              <a:srgbClr val="00E5A0">
                <a:alpha val="28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86016" y="2057400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Waiting Period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624328"/>
            <a:ext cx="2011680" cy="420624"/>
          </a:xfrm>
          <a:prstGeom prst="rect">
            <a:avLst/>
          </a:prstGeom>
          <a:solidFill>
            <a:srgbClr val="162032"/>
          </a:solidFill>
          <a:ln w="12700">
            <a:solidFill>
              <a:srgbClr val="00E5A0">
                <a:alpha val="2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62432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Network Hospitals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33472" y="2624328"/>
            <a:ext cx="2011680" cy="420624"/>
          </a:xfrm>
          <a:prstGeom prst="rect">
            <a:avLst/>
          </a:prstGeom>
          <a:solidFill>
            <a:srgbClr val="162032"/>
          </a:solidFill>
          <a:ln w="12700">
            <a:solidFill>
              <a:srgbClr val="00E5A0">
                <a:alpha val="28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33472" y="262432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Add-on Benefits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9744" y="2624328"/>
            <a:ext cx="2011680" cy="420624"/>
          </a:xfrm>
          <a:prstGeom prst="rect">
            <a:avLst/>
          </a:prstGeom>
          <a:solidFill>
            <a:srgbClr val="162032"/>
          </a:solidFill>
          <a:ln w="12700">
            <a:solidFill>
              <a:srgbClr val="00E5A0">
                <a:alpha val="2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9744" y="262432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Age-based Scoring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86016" y="2624328"/>
            <a:ext cx="2011680" cy="420624"/>
          </a:xfrm>
          <a:prstGeom prst="rect">
            <a:avLst/>
          </a:prstGeom>
          <a:solidFill>
            <a:srgbClr val="162032"/>
          </a:solidFill>
          <a:ln w="12700">
            <a:solidFill>
              <a:srgbClr val="00E5A0">
                <a:alpha val="2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86016" y="262432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Budget Fit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191256"/>
            <a:ext cx="2011680" cy="420624"/>
          </a:xfrm>
          <a:prstGeom prst="rect">
            <a:avLst/>
          </a:prstGeom>
          <a:solidFill>
            <a:srgbClr val="162032"/>
          </a:solidFill>
          <a:ln w="12700">
            <a:solidFill>
              <a:srgbClr val="00E5A0">
                <a:alpha val="28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191256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Exclusions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633472" y="3191256"/>
            <a:ext cx="2011680" cy="420624"/>
          </a:xfrm>
          <a:prstGeom prst="rect">
            <a:avLst/>
          </a:prstGeom>
          <a:solidFill>
            <a:srgbClr val="162032"/>
          </a:solidFill>
          <a:ln w="12700">
            <a:solidFill>
              <a:srgbClr val="00E5A0">
                <a:alpha val="28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33472" y="3191256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Renewal Terms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9744" y="3191256"/>
            <a:ext cx="2011680" cy="420624"/>
          </a:xfrm>
          <a:prstGeom prst="rect">
            <a:avLst/>
          </a:prstGeom>
          <a:solidFill>
            <a:srgbClr val="162032"/>
          </a:solidFill>
          <a:ln w="12700">
            <a:solidFill>
              <a:srgbClr val="00E5A0">
                <a:alpha val="28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9744" y="3191256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Pre-existing Condition Cover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986016" y="3191256"/>
            <a:ext cx="2011680" cy="420624"/>
          </a:xfrm>
          <a:prstGeom prst="rect">
            <a:avLst/>
          </a:prstGeom>
          <a:solidFill>
            <a:srgbClr val="162032"/>
          </a:solidFill>
          <a:ln w="12700">
            <a:solidFill>
              <a:srgbClr val="00E5A0">
                <a:alpha val="28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86016" y="3191256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Tax Benefits (80D)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format: Ranked comparison table (5–6 policies) + top pick recommendation + rationale.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5760" y="482803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 smtClean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</a:t>
            </a:r>
            <a:r>
              <a:rPr lang="en-US" sz="800" dirty="0" err="1" smtClean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AIBot</a:t>
            </a:r>
            <a:r>
              <a:rPr lang="en-US" sz="800" dirty="0" smtClean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00" dirty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Insurance Advisory System  ·  13 / 20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Rich Recommendation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642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16276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Table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337560" y="162763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5–6 policies compared across premium, coverage, CSR, waiting period, hospitals, and benefits.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8321040" cy="0"/>
          </a:xfrm>
          <a:prstGeom prst="line">
            <a:avLst/>
          </a:prstGeom>
          <a:noFill/>
          <a:ln w="5080">
            <a:solidFill>
              <a:srgbClr val="5A6A88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128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🏆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17627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Pick Recommendation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37560" y="217627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best-fit policy highlighted with full rationale specific to the user's profile.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8321040" cy="0"/>
          </a:xfrm>
          <a:prstGeom prst="line">
            <a:avLst/>
          </a:prstGeom>
          <a:noFill/>
          <a:ln w="5080">
            <a:solidFill>
              <a:srgbClr val="5A6A88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614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27249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Watch Out For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27249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exclusions, sub-limits, and conditions explained in plain language.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8321040" cy="0"/>
          </a:xfrm>
          <a:prstGeom prst="line">
            <a:avLst/>
          </a:prstGeom>
          <a:noFill/>
          <a:ln w="5080">
            <a:solidFill>
              <a:srgbClr val="5A6A88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101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32735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Highlights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37560" y="327355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Bullet-point summary of the top policy's key features and benefits.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8321040" cy="0"/>
          </a:xfrm>
          <a:prstGeom prst="line">
            <a:avLst/>
          </a:prstGeom>
          <a:noFill/>
          <a:ln w="5080">
            <a:solidFill>
              <a:srgbClr val="5A6A88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8587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💡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38221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Pro Tips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37560" y="382219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advice — how to save on premium, best riders to add, when to renew.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4297680"/>
            <a:ext cx="8321040" cy="0"/>
          </a:xfrm>
          <a:prstGeom prst="line">
            <a:avLst/>
          </a:prstGeom>
          <a:noFill/>
          <a:ln w="5080">
            <a:solidFill>
              <a:srgbClr val="5A6A88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4074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📜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0120" y="43708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37560" y="437083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advisory only — user encouraged to verify and consult a licensed agent.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7200" y="4846320"/>
            <a:ext cx="8321040" cy="0"/>
          </a:xfrm>
          <a:prstGeom prst="line">
            <a:avLst/>
          </a:prstGeom>
          <a:noFill/>
          <a:ln w="5080">
            <a:solidFill>
              <a:srgbClr val="5A6A88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82803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 smtClean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</a:t>
            </a:r>
            <a:r>
              <a:rPr lang="en-US" sz="800" dirty="0" err="1" smtClean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AIBot</a:t>
            </a:r>
            <a:r>
              <a:rPr lang="en-US" sz="800" dirty="0" smtClean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00" dirty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Insurance Advisory System  ·  14 / 20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Q&amp;A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Anything After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Recommendation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27632"/>
            <a:ext cx="8321040" cy="3127248"/>
          </a:xfrm>
          <a:prstGeom prst="rect">
            <a:avLst/>
          </a:prstGeom>
          <a:solidFill>
            <a:srgbClr val="16203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937760" y="1847088"/>
            <a:ext cx="3200400" cy="548640"/>
          </a:xfrm>
          <a:prstGeom prst="roundRect">
            <a:avLst>
              <a:gd name="adj" fmla="val 16667"/>
            </a:avLst>
          </a:prstGeom>
          <a:solidFill>
            <a:srgbClr val="00E5A0">
              <a:alpha val="20000"/>
            </a:srgbClr>
          </a:solidFill>
          <a:ln w="12700">
            <a:solidFill>
              <a:srgbClr val="00E5A0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47488" y="1901952"/>
            <a:ext cx="29809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claim settlement ratio of HDFC Ergo Health Optima Restore?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58368" y="2542032"/>
            <a:ext cx="3200400" cy="548640"/>
          </a:xfrm>
          <a:prstGeom prst="roundRect">
            <a:avLst>
              <a:gd name="adj" fmla="val 16667"/>
            </a:avLst>
          </a:prstGeom>
          <a:solidFill>
            <a:srgbClr val="1A2235">
              <a:alpha val="50000"/>
            </a:srgbClr>
          </a:solidFill>
          <a:ln w="12700">
            <a:solidFill>
              <a:srgbClr val="5A6A88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2596896"/>
            <a:ext cx="29809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Ergo has a CSR of 99.8% (FY 2024), one of the highest in the industry. Claims under ₹3L are typically settled within 30 minutes via their cashless network.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937760" y="3236976"/>
            <a:ext cx="3200400" cy="548640"/>
          </a:xfrm>
          <a:prstGeom prst="roundRect">
            <a:avLst>
              <a:gd name="adj" fmla="val 16667"/>
            </a:avLst>
          </a:prstGeom>
          <a:solidFill>
            <a:srgbClr val="00E5A0">
              <a:alpha val="20000"/>
            </a:srgbClr>
          </a:solidFill>
          <a:ln w="12700">
            <a:solidFill>
              <a:srgbClr val="00E5A0">
                <a:alpha val="4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47488" y="3291840"/>
            <a:ext cx="29809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waiting period for pre-existing conditions?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58368" y="3931920"/>
            <a:ext cx="3200400" cy="548640"/>
          </a:xfrm>
          <a:prstGeom prst="roundRect">
            <a:avLst>
              <a:gd name="adj" fmla="val 16667"/>
            </a:avLst>
          </a:prstGeom>
          <a:solidFill>
            <a:srgbClr val="1A2235">
              <a:alpha val="50000"/>
            </a:srgbClr>
          </a:solidFill>
          <a:ln w="12700">
            <a:solidFill>
              <a:srgbClr val="5A6A88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3986784"/>
            <a:ext cx="29809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standard waiting period is 3 years for pre-existing conditions under most plans. HDFC Ergo Health Optima Restore reduces this to 2 years for diabetes and hypertension.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484632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Q&amp;A chat maintains full conversation context, referencing the original recommendation for accurate follow-up answers.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STATS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Numbers Behind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InsureBot AI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27632"/>
            <a:ext cx="1965960" cy="1234440"/>
          </a:xfrm>
          <a:prstGeom prst="rect">
            <a:avLst/>
          </a:prstGeom>
          <a:solidFill>
            <a:srgbClr val="16203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792224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E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1000+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39572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Analyzed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33472" y="1627632"/>
            <a:ext cx="1965960" cy="1234440"/>
          </a:xfrm>
          <a:prstGeom prst="rect">
            <a:avLst/>
          </a:prstGeom>
          <a:solidFill>
            <a:srgbClr val="16203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33472" y="1792224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E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98.6%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24912" y="239572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Accuracy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9744" y="1627632"/>
            <a:ext cx="1965960" cy="1234440"/>
          </a:xfrm>
          <a:prstGeom prst="rect">
            <a:avLst/>
          </a:prstGeom>
          <a:solidFill>
            <a:srgbClr val="16203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9744" y="1792224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E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2 Min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901184" y="239572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Analysis Time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86016" y="1627632"/>
            <a:ext cx="1965960" cy="1234440"/>
          </a:xfrm>
          <a:prstGeom prst="rect">
            <a:avLst/>
          </a:prstGeom>
          <a:solidFill>
            <a:srgbClr val="16203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86016" y="1792224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E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25+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077456" y="239572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Insurers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044952"/>
            <a:ext cx="1965960" cy="1234440"/>
          </a:xfrm>
          <a:prstGeom prst="rect">
            <a:avLst/>
          </a:prstGeom>
          <a:solidFill>
            <a:srgbClr val="16203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209544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E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48640" y="381304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Categories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633472" y="3044952"/>
            <a:ext cx="1965960" cy="1234440"/>
          </a:xfrm>
          <a:prstGeom prst="rect">
            <a:avLst/>
          </a:prstGeom>
          <a:solidFill>
            <a:srgbClr val="16203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633472" y="3209544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E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2724912" y="381304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Parameters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09744" y="3044952"/>
            <a:ext cx="1965960" cy="1234440"/>
          </a:xfrm>
          <a:prstGeom prst="rect">
            <a:avLst/>
          </a:prstGeom>
          <a:solidFill>
            <a:srgbClr val="16203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09744" y="3209544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E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₹0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901184" y="381304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Users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86016" y="3044952"/>
            <a:ext cx="1965960" cy="1234440"/>
          </a:xfrm>
          <a:prstGeom prst="rect">
            <a:avLst/>
          </a:prstGeom>
          <a:solidFill>
            <a:srgbClr val="16203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86016" y="3209544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E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253B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077456" y="381304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Parameters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482803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 smtClean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</a:t>
            </a:r>
            <a:r>
              <a:rPr lang="en-US" sz="800" dirty="0" err="1" smtClean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AIBot</a:t>
            </a:r>
            <a:r>
              <a:rPr lang="en-US" sz="800" dirty="0" smtClean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00" dirty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Insurance Advisory System  ·  16 / 20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98.6% Recommendation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Accuracy Rate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0" y="365760"/>
            <a:ext cx="3200400" cy="2331720"/>
          </a:xfrm>
          <a:prstGeom prst="rect">
            <a:avLst/>
          </a:prstGeom>
          <a:solidFill>
            <a:srgbClr val="00E5A0">
              <a:alpha val="10000"/>
            </a:srgbClr>
          </a:solidFill>
          <a:ln w="12700">
            <a:solidFill>
              <a:srgbClr val="00E5A0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0" y="566928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E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98.6%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669280" y="17190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Rate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19072"/>
            <a:ext cx="109728" cy="109728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64208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 Analysis — compares claim settlement ratios across providers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21992"/>
            <a:ext cx="109728" cy="109728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67128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Optimization — finds lowest premium for required coverage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724912"/>
            <a:ext cx="109728" cy="109728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670048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Matching — matches policy scope to exact user need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27832"/>
            <a:ext cx="109728" cy="109728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172968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Hospitals — checks hospital availability in user's city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730752"/>
            <a:ext cx="109728" cy="109728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675888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Age-based Scoring — adjusts recommendations for risk age bands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233672"/>
            <a:ext cx="109728" cy="109728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178808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Fit — ensures premium stays within stated budget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82803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 smtClean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</a:t>
            </a:r>
            <a:r>
              <a:rPr lang="en-US" sz="800" dirty="0" err="1" smtClean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AIBot</a:t>
            </a:r>
            <a:r>
              <a:rPr lang="en-US" sz="800" dirty="0" smtClean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00" dirty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Insurance Advisory System  ·  17 / 20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NETWORK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25+ Trusted Indian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Insurance Providers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84048" y="1600200"/>
            <a:ext cx="1609344" cy="548640"/>
          </a:xfrm>
          <a:prstGeom prst="rect">
            <a:avLst/>
          </a:prstGeom>
          <a:solidFill>
            <a:srgbClr val="162032"/>
          </a:solidFill>
          <a:ln w="12700">
            <a:solidFill>
              <a:srgbClr val="5A6A88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1600200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Ergo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139696" y="1600200"/>
            <a:ext cx="1609344" cy="548640"/>
          </a:xfrm>
          <a:prstGeom prst="rect">
            <a:avLst/>
          </a:prstGeom>
          <a:solidFill>
            <a:srgbClr val="162032"/>
          </a:solidFill>
          <a:ln w="12700">
            <a:solidFill>
              <a:srgbClr val="5A6A88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39696" y="1600200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 Lombard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895344" y="1600200"/>
            <a:ext cx="1609344" cy="548640"/>
          </a:xfrm>
          <a:prstGeom prst="rect">
            <a:avLst/>
          </a:prstGeom>
          <a:solidFill>
            <a:srgbClr val="162032"/>
          </a:solidFill>
          <a:ln w="12700">
            <a:solidFill>
              <a:srgbClr val="5A6A88">
                <a:alpha val="4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95344" y="1600200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Acko Insurance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50992" y="1600200"/>
            <a:ext cx="1609344" cy="548640"/>
          </a:xfrm>
          <a:prstGeom prst="rect">
            <a:avLst/>
          </a:prstGeom>
          <a:solidFill>
            <a:srgbClr val="162032"/>
          </a:solidFill>
          <a:ln w="12700">
            <a:solidFill>
              <a:srgbClr val="5A6A88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50992" y="1600200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Bajaj Allianz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06640" y="1600200"/>
            <a:ext cx="1609344" cy="548640"/>
          </a:xfrm>
          <a:prstGeom prst="rect">
            <a:avLst/>
          </a:prstGeom>
          <a:solidFill>
            <a:srgbClr val="162032"/>
          </a:solidFill>
          <a:ln w="12700">
            <a:solidFill>
              <a:srgbClr val="5A6A88">
                <a:alpha val="4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0" y="1600200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Health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4048" y="2350008"/>
            <a:ext cx="1609344" cy="548640"/>
          </a:xfrm>
          <a:prstGeom prst="rect">
            <a:avLst/>
          </a:prstGeom>
          <a:solidFill>
            <a:srgbClr val="162032"/>
          </a:solidFill>
          <a:ln w="12700">
            <a:solidFill>
              <a:srgbClr val="5A6A88">
                <a:alpha val="4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350008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Niva Bupa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139696" y="2350008"/>
            <a:ext cx="1609344" cy="548640"/>
          </a:xfrm>
          <a:prstGeom prst="rect">
            <a:avLst/>
          </a:prstGeom>
          <a:solidFill>
            <a:srgbClr val="162032"/>
          </a:solidFill>
          <a:ln w="12700">
            <a:solidFill>
              <a:srgbClr val="5A6A88">
                <a:alpha val="4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39696" y="2350008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Health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95344" y="2350008"/>
            <a:ext cx="1609344" cy="548640"/>
          </a:xfrm>
          <a:prstGeom prst="rect">
            <a:avLst/>
          </a:prstGeom>
          <a:solidFill>
            <a:srgbClr val="162032"/>
          </a:solidFill>
          <a:ln w="12700">
            <a:solidFill>
              <a:srgbClr val="5A6A88">
                <a:alpha val="4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95344" y="2350008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Bupa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50992" y="2350008"/>
            <a:ext cx="1609344" cy="548640"/>
          </a:xfrm>
          <a:prstGeom prst="rect">
            <a:avLst/>
          </a:prstGeom>
          <a:solidFill>
            <a:srgbClr val="162032"/>
          </a:solidFill>
          <a:ln w="12700">
            <a:solidFill>
              <a:srgbClr val="5A6A88">
                <a:alpha val="4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50992" y="2350008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406640" y="2350008"/>
            <a:ext cx="1609344" cy="548640"/>
          </a:xfrm>
          <a:prstGeom prst="rect">
            <a:avLst/>
          </a:prstGeom>
          <a:solidFill>
            <a:srgbClr val="162032"/>
          </a:solidFill>
          <a:ln w="12700">
            <a:solidFill>
              <a:srgbClr val="5A6A88">
                <a:alpha val="4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0" y="2350008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Life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84048" y="3099816"/>
            <a:ext cx="1609344" cy="548640"/>
          </a:xfrm>
          <a:prstGeom prst="rect">
            <a:avLst/>
          </a:prstGeom>
          <a:solidFill>
            <a:srgbClr val="162032"/>
          </a:solidFill>
          <a:ln w="12700">
            <a:solidFill>
              <a:srgbClr val="5A6A88">
                <a:alpha val="4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099816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 Prudential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139696" y="3099816"/>
            <a:ext cx="1609344" cy="548640"/>
          </a:xfrm>
          <a:prstGeom prst="rect">
            <a:avLst/>
          </a:prstGeom>
          <a:solidFill>
            <a:srgbClr val="162032"/>
          </a:solidFill>
          <a:ln w="12700">
            <a:solidFill>
              <a:srgbClr val="5A6A88">
                <a:alpha val="4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39696" y="3099816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Life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895344" y="3099816"/>
            <a:ext cx="1609344" cy="548640"/>
          </a:xfrm>
          <a:prstGeom prst="rect">
            <a:avLst/>
          </a:prstGeom>
          <a:solidFill>
            <a:srgbClr val="162032"/>
          </a:solidFill>
          <a:ln w="12700">
            <a:solidFill>
              <a:srgbClr val="5A6A88">
                <a:alpha val="4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95344" y="3099816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AIA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650992" y="3099816"/>
            <a:ext cx="1609344" cy="548640"/>
          </a:xfrm>
          <a:prstGeom prst="rect">
            <a:avLst/>
          </a:prstGeom>
          <a:solidFill>
            <a:srgbClr val="162032"/>
          </a:solidFill>
          <a:ln w="12700">
            <a:solidFill>
              <a:srgbClr val="5A6A88">
                <a:alpha val="4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50992" y="3099816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Policybazaar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406640" y="3099816"/>
            <a:ext cx="1609344" cy="548640"/>
          </a:xfrm>
          <a:prstGeom prst="rect">
            <a:avLst/>
          </a:prstGeom>
          <a:solidFill>
            <a:srgbClr val="162032"/>
          </a:solidFill>
          <a:ln w="12700">
            <a:solidFill>
              <a:srgbClr val="5A6A88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06640" y="3099816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Coverfox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84048" y="3849624"/>
            <a:ext cx="1609344" cy="548640"/>
          </a:xfrm>
          <a:prstGeom prst="rect">
            <a:avLst/>
          </a:prstGeom>
          <a:solidFill>
            <a:srgbClr val="162032"/>
          </a:solidFill>
          <a:ln w="12700">
            <a:solidFill>
              <a:srgbClr val="5A6A88">
                <a:alpha val="4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3849624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India Assurance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139696" y="3849624"/>
            <a:ext cx="1609344" cy="548640"/>
          </a:xfrm>
          <a:prstGeom prst="rect">
            <a:avLst/>
          </a:prstGeom>
          <a:solidFill>
            <a:srgbClr val="162032"/>
          </a:solidFill>
          <a:ln w="12700">
            <a:solidFill>
              <a:srgbClr val="5A6A88">
                <a:alpha val="4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39696" y="3849624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India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895344" y="3849624"/>
            <a:ext cx="1609344" cy="548640"/>
          </a:xfrm>
          <a:prstGeom prst="rect">
            <a:avLst/>
          </a:prstGeom>
          <a:solidFill>
            <a:srgbClr val="162032"/>
          </a:solidFill>
          <a:ln w="12700">
            <a:solidFill>
              <a:srgbClr val="5A6A88">
                <a:alpha val="4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95344" y="3849624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Oriental Insurance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650992" y="3849624"/>
            <a:ext cx="1609344" cy="548640"/>
          </a:xfrm>
          <a:prstGeom prst="rect">
            <a:avLst/>
          </a:prstGeom>
          <a:solidFill>
            <a:srgbClr val="162032"/>
          </a:solidFill>
          <a:ln w="12700">
            <a:solidFill>
              <a:srgbClr val="5A6A88">
                <a:alpha val="4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50992" y="3849624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General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406640" y="3849624"/>
            <a:ext cx="1609344" cy="548640"/>
          </a:xfrm>
          <a:prstGeom prst="rect">
            <a:avLst/>
          </a:prstGeom>
          <a:solidFill>
            <a:srgbClr val="162032"/>
          </a:solidFill>
          <a:ln w="12700">
            <a:solidFill>
              <a:srgbClr val="5A6A88">
                <a:alpha val="4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06640" y="3849624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 Insurance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84048" y="4599432"/>
            <a:ext cx="1609344" cy="548640"/>
          </a:xfrm>
          <a:prstGeom prst="rect">
            <a:avLst/>
          </a:prstGeom>
          <a:solidFill>
            <a:srgbClr val="162032"/>
          </a:solidFill>
          <a:ln w="12700">
            <a:solidFill>
              <a:srgbClr val="5A6A88">
                <a:alpha val="45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4048" y="4599432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Sundaram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139696" y="4599432"/>
            <a:ext cx="1609344" cy="548640"/>
          </a:xfrm>
          <a:prstGeom prst="rect">
            <a:avLst/>
          </a:prstGeom>
          <a:solidFill>
            <a:srgbClr val="162032"/>
          </a:solidFill>
          <a:ln w="12700">
            <a:solidFill>
              <a:srgbClr val="5A6A88">
                <a:alpha val="45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139696" y="4599432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Kotak General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895344" y="4599432"/>
            <a:ext cx="1609344" cy="548640"/>
          </a:xfrm>
          <a:prstGeom prst="rect">
            <a:avLst/>
          </a:prstGeom>
          <a:solidFill>
            <a:srgbClr val="162032"/>
          </a:solidFill>
          <a:ln w="12700">
            <a:solidFill>
              <a:srgbClr val="5A6A88">
                <a:alpha val="45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95344" y="4599432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Generali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650992" y="4599432"/>
            <a:ext cx="1609344" cy="548640"/>
          </a:xfrm>
          <a:prstGeom prst="rect">
            <a:avLst/>
          </a:prstGeom>
          <a:solidFill>
            <a:srgbClr val="162032"/>
          </a:solidFill>
          <a:ln w="12700">
            <a:solidFill>
              <a:srgbClr val="5A6A88">
                <a:alpha val="45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50992" y="4599432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Edelweiss Tokio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406640" y="4599432"/>
            <a:ext cx="1609344" cy="548640"/>
          </a:xfrm>
          <a:prstGeom prst="rect">
            <a:avLst/>
          </a:prstGeom>
          <a:solidFill>
            <a:srgbClr val="162032"/>
          </a:solidFill>
          <a:ln w="12700">
            <a:solidFill>
              <a:srgbClr val="5A6A88">
                <a:alpha val="45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06640" y="4599432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Digit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SETUP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Proxy Server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Setup &amp; Usage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4864" cy="41148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508760"/>
            <a:ext cx="80284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Python HTTP server (proxy_server.py) is included to solve browser CORS restrictions when calling the NVIDIA NIM API directly from JavaScript.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2304288"/>
            <a:ext cx="8229600" cy="2377440"/>
          </a:xfrm>
          <a:prstGeom prst="rect">
            <a:avLst/>
          </a:prstGeom>
          <a:solidFill>
            <a:srgbClr val="162032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24871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45920" y="24871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requests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212080" y="24871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Install the only dependency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28895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45920" y="288950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proxy_server.py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12080" y="28895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Start server on localhost:3000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8368" y="32918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45920" y="3291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http://localhost:3000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12080" y="3291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Browser serves insurebot-ai.html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" y="36941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45920" y="369417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NVIDIA API Key in settings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12080" y="369417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Bearer token added to all requests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" y="4096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645920" y="40965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insurance type and fill form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12080" y="40965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Proxy relays POST to NVIDIA NIM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482803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 smtClean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</a:t>
            </a:r>
            <a:r>
              <a:rPr lang="en-US" sz="800" dirty="0" err="1" smtClean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AIBot</a:t>
            </a:r>
            <a:r>
              <a:rPr lang="en-US" sz="800" dirty="0" smtClean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00" dirty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Insurance Advisory System  ·  19 / 20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457200"/>
            <a:ext cx="5486400" cy="5486400"/>
          </a:xfrm>
          <a:prstGeom prst="ellipse">
            <a:avLst/>
          </a:prstGeom>
          <a:solidFill>
            <a:srgbClr val="00E5A0">
              <a:alpha val="5000"/>
            </a:srgbClr>
          </a:solidFill>
          <a:ln w="12700">
            <a:solidFill>
              <a:srgbClr val="00E5A0">
                <a:alpha val="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411480"/>
            <a:ext cx="164592" cy="164592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9184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InsureBot AI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8912" y="822960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Smarter Insurance Decisions</a:t>
            </a:r>
            <a:endParaRPr lang="en-US" sz="40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Every Indian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5000"/>
              </a:lnSpc>
              <a:buNone/>
            </a:pPr>
            <a:r>
              <a:rPr lang="en-US" sz="13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InsureBot AI democratizes insurance advisory — combining the analytical power of a 253B LLM with the simplicity of a 2-minute web form. It delivers unbiased, comprehensive insurance recommendations that were previously only available to those who could afford financial advisors.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645920" y="3886200"/>
            <a:ext cx="1645920" cy="292608"/>
          </a:xfrm>
          <a:prstGeom prst="roundRect">
            <a:avLst>
              <a:gd name="adj" fmla="val 31250"/>
            </a:avLst>
          </a:prstGeom>
          <a:solidFill>
            <a:srgbClr val="00E5A0">
              <a:alpha val="15000"/>
            </a:srgbClr>
          </a:solidFill>
          <a:ln w="12700">
            <a:solidFill>
              <a:srgbClr val="00E5A0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388620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AI-Powered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3886200"/>
            <a:ext cx="1645920" cy="292608"/>
          </a:xfrm>
          <a:prstGeom prst="roundRect">
            <a:avLst>
              <a:gd name="adj" fmla="val 31250"/>
            </a:avLst>
          </a:prstGeom>
          <a:solidFill>
            <a:srgbClr val="F5A623">
              <a:alpha val="15000"/>
            </a:srgbClr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388620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Completely Free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79386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 smtClean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</a:t>
            </a:r>
            <a:r>
              <a:rPr lang="en-US" sz="800" dirty="0" err="1" smtClean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AIBot</a:t>
            </a:r>
            <a:r>
              <a:rPr lang="en-US" sz="800" dirty="0" smtClean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00" dirty="0">
                <a:solidFill>
                  <a:srgbClr val="5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Insurance Advisory System  ·  20 / 20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1846</Words>
  <Application>Microsoft Office PowerPoint</Application>
  <PresentationFormat>On-screen Show (16:9)</PresentationFormat>
  <Paragraphs>397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InsureBot AI – Project Presentation</dc:title>
  <dc:subject>PptxGenJS Presentation</dc:subject>
  <dc:creator>PptxGenJS</dc:creator>
  <cp:lastModifiedBy>ADMIN</cp:lastModifiedBy>
  <cp:revision>7</cp:revision>
  <dcterms:created xsi:type="dcterms:W3CDTF">2026-05-02T06:52:18Z</dcterms:created>
  <dcterms:modified xsi:type="dcterms:W3CDTF">2026-05-03T07:37:50Z</dcterms:modified>
</cp:coreProperties>
</file>